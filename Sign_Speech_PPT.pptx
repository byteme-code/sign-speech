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14AB0E2-32AE-0B3F-01DB-90670CDCE4E7}">
          <p14:sldIdLst>
            <p14:sldId id="256"/>
            <p14:sldId id="257"/>
            <p14:sldId id="258"/>
          </p14:sldIdLst>
        </p14:section>
        <p14:section name="Learn" id="{2E21578C-9D98-6A46-F448-B991CAFDAACF}">
          <p14:sldIdLst>
            <p14:sldId id="259"/>
            <p14:sldId id="260"/>
            <p14:sldId id="261"/>
          </p14:sldIdLst>
        </p14:section>
        <p14:section name="Talk" id="{33AE3350-D68A-53DD-FEE2-178202A93295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Under the hood" id="{FE69B000-B4C4-688B-A5AB-64BFCCDE98D2}">
          <p14:sldIdLst>
            <p14:sldId id="271"/>
            <p14:sldId id="272"/>
            <p14:sldId id="273"/>
          </p14:sldIdLst>
        </p14:section>
        <p14:section name="Impact" id="{2BEB86CC-66EE-D42B-CF9C-9197B60E909B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16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Universal Accessibility Platform: learn sign language, or talk with it. Works on laptop and phone; ASL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single-page web app. Runs in the browser, no installation. Hand tracking runs on the device; camera stays off until Start. Two paths from Home: 1 = Learn (click opens the picture dictionary), 2 = Talk (click opens the four talking modes).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leads to two paths. Learn: picture dictionary with Alphabet A–Z and Everyday signs tabs. Talk: Fingerspelling, Basic signs, Draw a letter, Draw in the air, plus the optional My own gestures. A shared message bar and accessibility controls appear across pages. Practise with the camera in Learn jumps to the matching Talk camera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is a picture dictionary. 1 Tabs: Alphabet A–Z (26 letters) and Everyday signs (20 signs); clicking switches the list. 2 Search box filters the dictionary; empty results show “Nothing matches that search”. 3 Each entry is a card with picture and name; tapping opens a pop-up. 4 The pop-up shows a large picture, step-by-step instructions and a camera tip where relevant, e.g. turn your hand sideways for G and H. 5 Practise with the camera jumps to the Fingerspelling camera screen (Talk); Close dismisses the pop-up.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 everyday signs: Yes, No, Please, Thank you, Sorry, Help, More, All done, Find, Want, Open, Sit, Sleep, Play, Eat, Drink, Hurt, Restroom, Stop, Go. 1 Clicking the Everyday signs tab swaps the alphabet for these cards. 2 Each card has a picture. 3 Each has a written description plus a note on one or two hands. Examples: Please = flat hand circles on chest; Sorry = same circle with a fist; Thank you = flat hand from chin forward and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Pop-up for an everyday sign (here: Yes). 1 Picture with arrows showing movement. 2 Written step-by-step description. 3 Note on one or two hands and placement. 4 Practise with the camera jumps to the camera screen of Talk &gt; Basic signs. 5 Close dismisses the pop-up.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modes, each with Start and Stop buttons and a voice mute option: 1 Fingerspelling, 2 Basic signs, 3 Draw a letter, 4 Draw in the air. Clicking a card opens that mode. 5 Optional link: record your own hand movements and choose what each one says (opens My own gestures).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Fingerspelling. 1 Start turns the camera on, Stop turns it off, Voice toggles speech. 2 Hold an ASL letter steady until the progress bar fills; the letter is typed into the message box and spoken aloud. 3 Hold time dropdown: Slow (~1.25 s), Normal (~0.85 s), Fast (~0.55 s). 4 The match indicator shows when the camera sees the selected letter. 5 Typed letters collect in the message box; an open hand with fingers spread types a space and the app says the word just finished. J and Z are drawn in the air; G and H with hand sideways; P and Q with fingers pointing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Tapping a tile shows a big picture, written steps and a camera tip. 2 Tiles cover A–Z plus Space. 3 Teach the camera my letter: select the letter, make it your way and hold for two seconds; it is saved on the device. 4 Reset clears the taught version. 5 Message-bar buttons: Space adds a space, Repeat letter repeats the last letter for double letters such as 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signs. 1 Stand back so hands and face are visible; the status line reports 1 hand or 2 hands in view. 2 The recognised word appears in the green tag (rule-based on hand shape, movement and position relative to the face, using both hands and the face). 3 The word is typed and spoken aloud. 4 After a sign fires the system pauses briefly so the same sign is not added twice. 5 The sign guide shows pictures and instructions; tapping a tile selects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camera my version of this sign. 1 Select the sign tile in the guide. 2 Press Teach the camera my version of this sign: a 3-second countdown starts. 3 Record the sign two or three times; the camera learns how you make it. 4 Reset this sign clears your version for that sign only. Taught data is saved on the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letter. 1 Draw a capital letter on the board with a finger, mouse or pen, or press Start camera and draw in the air with the index finger; when you stop for a moment the letter is recognised, typed and spoken. 2 Add letter now types immediately, Clear drawing wipes the board, Undo stroke removes the last stroke. 3 Several letters at once: draw them side by side with small gaps; multiple strokes in any order work. Ask before typing shows alternative candidates to choose from. The app learns from corrections; Forget my corrections resets them. 4 Air-pen start delay: Quick, Normal or Careful. 5 Pause before typing: Short, Normal or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in the air. 1 Point with the index finger and curl the others; move the fingertip to draw over the live camera picture. Open the hand, make a fist or lower the hand to lift the pen. 2 Tools: Pen, Marker, Rainbow, Line, Box, Circle, Eraser. 3 Eight colour swatches (white, orange, pink, green, blue, yellow, purple, black) and pen sizes Thin, Medium, Thick, Extra thick. 4 Undo, Redo, Clear, Save picture (downloads the drawing) and Plain board (hides the camera picture). 5 Holding an open hand still for 1.5 seconds clears everything; Undo brings it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own gestures. 1 Give the gesture a name and type what it says, e.g. Wave hello &gt; Hello, nice to meet you. 2 Record example: record at least two examples. 3 Save gesture stores it. 4 The saved-gestures list lets you manage them. 5 Shortcut mode turns saved gestures on so they are recognised and spoken. Works with still shapes and movements.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message bar appears on the camera and gesture pages. 1 Text box where letters and words collect. 2 Speak all reads the whole message aloud. 3 Space. 4 Repeat letter. 5 Delete (⌫) and Clear. 6 Every action also shows a toast notification and a spoken live-region announcement for screen readers.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and face landmark models (MediaPipe-style) load on first use; camera runs at 640x480; GPU with CPU fallback. Normalised hand frame: wrist origin, scaled by palm length, left hands mirrored. Letter classifier: template comparison with weighted distances plus orientation, a rule layer for commonly confused letters (E, X, G, Q, P) and a majority vote over the last few frames. J and Z from fingertip paths. Basic signs: rule-based. Personal gestures: DTW. Drawn letters: point-cloud matcher. Speech: browser text-to-speech.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text sizes (A, A+, A++). Voice on/off remembered. Large touch targets (48 px+), focus outline, screen-reader labels with live announcements. Reduced-motion respected. Phone vibration when a letter is typed. Hands-free typing through spaces, holds and gestures. Responsive for laptop and phone with mirrored camera. Settings and teaching saved on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camera is off until the user presses Start; Stop turns it off. Hand tracking runs on the device and the footer says so (1). Personal teaching data is stored locally in the browser. Clear error messages cover a blocked camera or a model that fails to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Audiences: people learning ASL; Deaf and hard-of-hearing users who want to communicate with people who don’t sign; teachers, families and children. It works without special hardware, just a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Universal Accessibility: learn it, sign it, say it. Replace the QR placeholder with your app QR code and add the app link under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img/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327648"/>
            <a:ext cx="60350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393424" y="63276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C3C0"/>
                </a:solidFill>
              </a:rPr>
              <a:t>/ 20</a:t>
            </a:r>
            <a:endParaRPr lang="en-US" sz="12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i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img/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327648"/>
            <a:ext cx="60350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393424" y="63276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C3C0"/>
                </a:solidFill>
              </a:rPr>
              <a:t>/ 20</a:t>
            </a:r>
            <a:endParaRPr lang="en-US" sz="12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640080" y="1234440"/>
            <a:ext cx="585216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88000"/>
              </a:lnSpc>
              <a:buNone/>
              <a:defRPr lang="en-US" sz="6200" i="1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88000"/>
              </a:lnSpc>
              <a:buNone/>
            </a:pPr>
            <a:endParaRPr lang="en-US" sz="62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40080" y="4114800"/>
            <a:ext cx="5669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img/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327648"/>
            <a:ext cx="60350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393424" y="63276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C3C0"/>
                </a:solidFill>
              </a:rPr>
              <a:t>/ 20</a:t>
            </a:r>
            <a:endParaRPr lang="en-US" sz="12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640080" y="1280160"/>
            <a:ext cx="676656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0000"/>
              </a:lnSpc>
              <a:buNone/>
              <a:defRPr lang="en-US" sz="5600" i="1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0000"/>
              </a:lnSpc>
              <a:buNone/>
            </a:pPr>
            <a:endParaRPr lang="en-US" sz="5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7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9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yteme-code/Sign-Speech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2"/>
                </a:solidFill>
              </a:rPr>
              <a:t>BYTE4ME  ·  MINDS IN ENGINEERING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640080" y="12344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200" i="1" dirty="0">
                <a:solidFill>
                  <a:schemeClr val="bg1"/>
                </a:solidFill>
              </a:rPr>
              <a:t>Universal Accessibility Platform</a:t>
            </a:r>
            <a:endParaRPr lang="en-US" sz="62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640080" y="4114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bg1"/>
                </a:solidFill>
              </a:rPr>
              <a:t>Learn signs. Express yourself.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2514600" cy="457200"/>
          </a:xfrm>
          <a:prstGeom prst="roundRect">
            <a:avLst>
              <a:gd name="adj" fmla="val 28000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Works on laptop and phone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4983480"/>
            <a:ext cx="3108960" cy="457200"/>
          </a:xfrm>
          <a:prstGeom prst="roundRect">
            <a:avLst>
              <a:gd name="adj" fmla="val 28000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American Sign Language (ASL) first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1920240"/>
            <a:ext cx="4937760" cy="1996809"/>
          </a:xfrm>
          <a:prstGeom prst="roundRect">
            <a:avLst>
              <a:gd name="adj" fmla="val 4579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8" name="Image 0" descr="Home screen of the a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4846320" cy="1905369"/>
          </a:xfrm>
          <a:prstGeom prst="rect">
            <a:avLst/>
          </a:prstGeom>
        </p:spPr>
      </p:pic>
      <p:pic>
        <p:nvPicPr>
          <p:cNvPr id="9" name="Image 1" descr="ASL letter 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20000">
            <a:off x="6629400" y="4206240"/>
            <a:ext cx="1143000" cy="1143000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pic>
      <p:pic>
        <p:nvPicPr>
          <p:cNvPr id="10" name="Image 2" descr="ASL sign for y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20000">
            <a:off x="10561320" y="1188720"/>
            <a:ext cx="1143000" cy="1143000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C5335E-353C-9664-91EC-61F353445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What it is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1234440"/>
          </a:xfrm>
          <a:prstGeom prst="roundRect">
            <a:avLst>
              <a:gd name="adj" fmla="val 8889"/>
            </a:avLst>
          </a:prstGeom>
          <a:solidFill>
            <a:schemeClr val="accent4">
              <a:alpha val="65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web app that helps people learn ASL and turn signs and gestures into text and speech.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120640" cy="1051560"/>
          </a:xfrm>
          <a:prstGeom prst="roundRect">
            <a:avLst>
              <a:gd name="adj" fmla="val 10435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29352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we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0906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926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No installation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32735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Open it in your browser and get started.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886200"/>
            <a:ext cx="5120640" cy="1097280"/>
          </a:xfrm>
          <a:prstGeom prst="roundRect">
            <a:avLst>
              <a:gd name="adj" fmla="val 100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0664" y="40782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camo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3367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4069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Private by design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508760" y="4416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Hand tracking runs on your device. The camera only starts when you press Start.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5074920"/>
            <a:ext cx="5120640" cy="1051560"/>
          </a:xfrm>
          <a:prstGeom prst="roundRect">
            <a:avLst>
              <a:gd name="adj" fmla="val 10435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0664" y="526694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ath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42239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52578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Two main paths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5605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Choose Learn to explore signs, or Talk to try them out with the camera.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943600" y="1325880"/>
            <a:ext cx="5715000" cy="3610605"/>
          </a:xfrm>
          <a:prstGeom prst="roundRect">
            <a:avLst>
              <a:gd name="adj" fmla="val 2533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2" name="Image 3" descr="Home screen showing Learn and Talk path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371600"/>
            <a:ext cx="5623560" cy="351916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989466" y="3552098"/>
            <a:ext cx="2002033" cy="608065"/>
          </a:xfrm>
          <a:prstGeom prst="roundRect">
            <a:avLst>
              <a:gd name="adj" fmla="val 9023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988174" y="3058576"/>
            <a:ext cx="1402" cy="48437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19"/>
          <p:cNvSpPr/>
          <p:nvPr/>
        </p:nvSpPr>
        <p:spPr>
          <a:xfrm>
            <a:off x="9832223" y="272939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989466" y="4087011"/>
            <a:ext cx="2002033" cy="608065"/>
          </a:xfrm>
          <a:prstGeom prst="roundRect">
            <a:avLst>
              <a:gd name="adj" fmla="val 9023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flipH="1">
            <a:off x="11000643" y="4391043"/>
            <a:ext cx="18544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Text 22"/>
          <p:cNvSpPr/>
          <p:nvPr/>
        </p:nvSpPr>
        <p:spPr>
          <a:xfrm>
            <a:off x="11204372" y="423559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989320" y="5138928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108192" y="52578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537960" y="5212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Learn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Explore the ASL picture dictionary.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8869680" y="5138928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988552" y="52578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418320" y="5212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Talk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Turn supported signs into text and speech.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8FDB204-B1F5-B19D-819B-BFE99FAD71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App map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93208" y="1371600"/>
            <a:ext cx="2011680" cy="566928"/>
          </a:xfrm>
          <a:prstGeom prst="roundRect">
            <a:avLst>
              <a:gd name="adj" fmla="val 22581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Home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514600"/>
            <a:ext cx="3474720" cy="640080"/>
          </a:xfrm>
          <a:prstGeom prst="roundRect">
            <a:avLst>
              <a:gd name="adj" fmla="val 20000"/>
            </a:avLst>
          </a:prstGeom>
          <a:solidFill>
            <a:schemeClr val="accent3">
              <a:alpha val="9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Learn ASL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52360" y="2514600"/>
            <a:ext cx="3474720" cy="640080"/>
          </a:xfrm>
          <a:prstGeom prst="roundRect">
            <a:avLst>
              <a:gd name="adj" fmla="val 20000"/>
            </a:avLst>
          </a:prstGeom>
          <a:solidFill>
            <a:schemeClr val="accent3">
              <a:alpha val="9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Sign to communicate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 flipH="1">
            <a:off x="3200400" y="1938528"/>
            <a:ext cx="2377440" cy="55778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29400" y="1938528"/>
            <a:ext cx="2377440" cy="55778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48640" y="3657600"/>
            <a:ext cx="2331720" cy="868680"/>
          </a:xfrm>
          <a:prstGeom prst="roundRect">
            <a:avLst>
              <a:gd name="adj" fmla="val 14737"/>
            </a:avLst>
          </a:prstGeom>
          <a:solidFill>
            <a:schemeClr val="tx1">
              <a:alpha val="80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Alphabet A–Z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26 letters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54680" y="3657600"/>
            <a:ext cx="2331720" cy="868680"/>
          </a:xfrm>
          <a:prstGeom prst="roundRect">
            <a:avLst>
              <a:gd name="adj" fmla="val 14737"/>
            </a:avLst>
          </a:prstGeom>
          <a:solidFill>
            <a:schemeClr val="tx1">
              <a:alpha val="80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Everyday signs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20 signs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flipH="1">
            <a:off x="1737360" y="3154680"/>
            <a:ext cx="731520" cy="48463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3154680"/>
            <a:ext cx="731520" cy="48463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989320" y="3657600"/>
            <a:ext cx="1389888" cy="868680"/>
          </a:xfrm>
          <a:prstGeom prst="roundRect">
            <a:avLst>
              <a:gd name="adj" fmla="val 14737"/>
            </a:avLst>
          </a:prstGeom>
          <a:solidFill>
            <a:schemeClr val="tx1">
              <a:alpha val="80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Fingerspelling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flipH="1">
            <a:off x="6675120" y="3154680"/>
            <a:ext cx="2514600" cy="4846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70648" y="3657600"/>
            <a:ext cx="1389888" cy="868680"/>
          </a:xfrm>
          <a:prstGeom prst="roundRect">
            <a:avLst>
              <a:gd name="adj" fmla="val 14737"/>
            </a:avLst>
          </a:prstGeom>
          <a:solidFill>
            <a:schemeClr val="tx1">
              <a:alpha val="80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signs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H="1">
            <a:off x="8156448" y="3154680"/>
            <a:ext cx="1033272" cy="4846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951976" y="3657600"/>
            <a:ext cx="1389888" cy="868680"/>
          </a:xfrm>
          <a:prstGeom prst="roundRect">
            <a:avLst>
              <a:gd name="adj" fmla="val 14737"/>
            </a:avLst>
          </a:prstGeom>
          <a:solidFill>
            <a:schemeClr val="tx1">
              <a:alpha val="80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Draw a letter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89720" y="3154680"/>
            <a:ext cx="448056" cy="4846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433304" y="3657600"/>
            <a:ext cx="1389888" cy="868680"/>
          </a:xfrm>
          <a:prstGeom prst="roundRect">
            <a:avLst>
              <a:gd name="adj" fmla="val 14737"/>
            </a:avLst>
          </a:prstGeom>
          <a:solidFill>
            <a:schemeClr val="tx1">
              <a:alpha val="80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Draw in the air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89720" y="3154680"/>
            <a:ext cx="1929384" cy="4846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989320" y="4663440"/>
            <a:ext cx="5833872" cy="457200"/>
          </a:xfrm>
          <a:prstGeom prst="roundRect">
            <a:avLst>
              <a:gd name="adj" fmla="val 28000"/>
            </a:avLst>
          </a:prstGeom>
          <a:solidFill>
            <a:schemeClr val="tx1">
              <a:alpha val="50000"/>
            </a:schemeClr>
          </a:solidFill>
          <a:ln w="12700">
            <a:solidFill>
              <a:schemeClr val="accent5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Create your own gestures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63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</a:rPr>
              <a:t>Practise with the camera to jump from Learn into Talk.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4910328"/>
            <a:ext cx="12801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5440680"/>
            <a:ext cx="11064240" cy="566928"/>
          </a:xfrm>
          <a:prstGeom prst="roundRect">
            <a:avLst>
              <a:gd name="adj" fmla="val 22581"/>
            </a:avLst>
          </a:prstGeom>
          <a:solidFill>
            <a:schemeClr val="accent4">
              <a:alpha val="6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Available throughout the app: message bar  ·  text size (A, A+, A++)  ·  voice on / off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D7F2D6D-C80E-C34C-62DE-4DF58688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PATH 1  ·  LEARN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Learn sign language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798882" cy="352044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Alphabet tab of the picture dictiona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4707442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325880"/>
            <a:ext cx="4953455" cy="352044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1" descr="Letter A pop-u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371600"/>
            <a:ext cx="4862015" cy="3429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97880" y="2926080"/>
            <a:ext cx="64008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2"/>
                </a:solidFill>
              </a:rPr>
              <a:t>tap a card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097075" y="2181987"/>
            <a:ext cx="1217060" cy="251460"/>
          </a:xfrm>
          <a:prstGeom prst="roundRect">
            <a:avLst>
              <a:gd name="adj" fmla="val 21818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H="1">
            <a:off x="2323280" y="2307717"/>
            <a:ext cx="96211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Text 8"/>
          <p:cNvSpPr/>
          <p:nvPr/>
        </p:nvSpPr>
        <p:spPr>
          <a:xfrm>
            <a:off x="3303680" y="215226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97075" y="2466594"/>
            <a:ext cx="2003203" cy="227457"/>
          </a:xfrm>
          <a:prstGeom prst="roundRect">
            <a:avLst>
              <a:gd name="adj" fmla="val 24121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H="1">
            <a:off x="3109422" y="2541327"/>
            <a:ext cx="740905" cy="1649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3868573" y="23820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097075" y="2689479"/>
            <a:ext cx="718072" cy="1136142"/>
          </a:xfrm>
          <a:prstGeom prst="roundRect">
            <a:avLst>
              <a:gd name="adj" fmla="val 7640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4961" y="3257550"/>
            <a:ext cx="23297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525777" y="310210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570089" y="2483739"/>
            <a:ext cx="2834776" cy="1365885"/>
          </a:xfrm>
          <a:prstGeom prst="roundRect">
            <a:avLst>
              <a:gd name="adj" fmla="val 401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 flipH="1">
            <a:off x="9002644" y="2231094"/>
            <a:ext cx="5336" cy="243501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8856339" y="190195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790455" y="3049524"/>
            <a:ext cx="1249760" cy="246659"/>
          </a:xfrm>
          <a:prstGeom prst="roundRect">
            <a:avLst>
              <a:gd name="adj" fmla="val 22243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 flipV="1">
            <a:off x="9403438" y="3305327"/>
            <a:ext cx="9845" cy="635757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9245301" y="395935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48640" y="4937760"/>
            <a:ext cx="2081174" cy="1261872"/>
          </a:xfrm>
          <a:prstGeom prst="roundRect">
            <a:avLst>
              <a:gd name="adj" fmla="val 869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0080" y="50292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24128" y="502920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Pick a tab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685800" y="5413248"/>
            <a:ext cx="18251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Browse all 26 letters or explore 20 everyday signs.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2794406" y="4937759"/>
            <a:ext cx="2081174" cy="1389885"/>
          </a:xfrm>
          <a:prstGeom prst="roundRect">
            <a:avLst>
              <a:gd name="adj" fmla="val 869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885846" y="50292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3269894" y="502920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2931566" y="5413248"/>
            <a:ext cx="18251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Find a letter or sign by typing its name.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5040173" y="4937760"/>
            <a:ext cx="2081174" cy="1389886"/>
          </a:xfrm>
          <a:prstGeom prst="roundRect">
            <a:avLst>
              <a:gd name="adj" fmla="val 869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131613" y="50292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5515661" y="502920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Tap a card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5177333" y="5413248"/>
            <a:ext cx="18251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Select a card to see the sign and its name.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7285939" y="4937760"/>
            <a:ext cx="2081174" cy="1389888"/>
          </a:xfrm>
          <a:prstGeom prst="roundRect">
            <a:avLst>
              <a:gd name="adj" fmla="val 869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377379" y="50292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7761427" y="502920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Read and see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7423099" y="5413248"/>
            <a:ext cx="18251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View a larger picture, follow the written steps, and check the camera tips.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9531706" y="4937759"/>
            <a:ext cx="2081174" cy="1389885"/>
          </a:xfrm>
          <a:prstGeom prst="roundRect">
            <a:avLst>
              <a:gd name="adj" fmla="val 869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9623146" y="50292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10007194" y="502920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Practise / Close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9668866" y="5413248"/>
            <a:ext cx="182514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Open the camera to practise, or close the pop-up to return to the dictionary.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DBFC9D0-C9E8-8E84-07FB-839B8AB3F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LEARN  ·  EVERYDAY SIGNS TAB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The 20 everyday signs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2"/>
                </a:solidFill>
              </a:rPr>
              <a:t>Each card shows how to make the sign, with written steps and a note on whether it uses one or both hands.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Yes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83080" y="2057400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2057400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Please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51960" y="2057400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Thank you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78024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Sorry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2478024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Help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478024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More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51960" y="2478024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All done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898648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Find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2898648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Want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898648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Open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2898648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319272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Sleep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3319272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Play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319272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51960" y="3319272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Drink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739896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Hurt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83080" y="3739896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Restroom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739896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Stop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51960" y="3739896"/>
            <a:ext cx="1143000" cy="356616"/>
          </a:xfrm>
          <a:prstGeom prst="roundRect">
            <a:avLst>
              <a:gd name="adj" fmla="val 35897"/>
            </a:avLst>
          </a:prstGeom>
          <a:solidFill>
            <a:schemeClr val="tx1">
              <a:alpha val="7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Go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EXAMPLES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498848"/>
            <a:ext cx="4846320" cy="502920"/>
          </a:xfrm>
          <a:prstGeom prst="roundRect">
            <a:avLst>
              <a:gd name="adj" fmla="val 2181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451713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Please:  </a:t>
            </a:r>
            <a:r>
              <a:rPr lang="en-US" sz="1400" b="1" dirty="0">
                <a:solidFill>
                  <a:schemeClr val="bg1"/>
                </a:solidFill>
              </a:rPr>
              <a:t>R</a:t>
            </a:r>
            <a:r>
              <a:rPr lang="en-US" sz="1400" dirty="0">
                <a:solidFill>
                  <a:schemeClr val="bg1"/>
                </a:solidFill>
              </a:rPr>
              <a:t>ub a Flat hand in a slow circle on the chest.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065776"/>
            <a:ext cx="4846320" cy="502920"/>
          </a:xfrm>
          <a:prstGeom prst="roundRect">
            <a:avLst>
              <a:gd name="adj" fmla="val 2181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5084064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Sorry:  </a:t>
            </a:r>
            <a:r>
              <a:rPr lang="en-US" sz="1400" b="1" dirty="0">
                <a:solidFill>
                  <a:schemeClr val="bg1"/>
                </a:solidFill>
              </a:rPr>
              <a:t>T</a:t>
            </a:r>
            <a:r>
              <a:rPr lang="en-US" sz="1400" dirty="0">
                <a:solidFill>
                  <a:schemeClr val="bg1"/>
                </a:solidFill>
              </a:rPr>
              <a:t>he same circle, but with a fist.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632704"/>
            <a:ext cx="4846320" cy="502920"/>
          </a:xfrm>
          <a:prstGeom prst="roundRect">
            <a:avLst>
              <a:gd name="adj" fmla="val 2181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5650992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Thank you:  </a:t>
            </a:r>
            <a:r>
              <a:rPr lang="en-US" sz="1400" b="1" dirty="0">
                <a:solidFill>
                  <a:schemeClr val="bg1"/>
                </a:solidFill>
              </a:rPr>
              <a:t>M</a:t>
            </a:r>
            <a:r>
              <a:rPr lang="en-US" sz="1400" dirty="0">
                <a:solidFill>
                  <a:schemeClr val="bg1"/>
                </a:solidFill>
              </a:rPr>
              <a:t>ove a flat hand from the chin forward and down.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623560" y="1325880"/>
            <a:ext cx="5760720" cy="4074855"/>
          </a:xfrm>
          <a:prstGeom prst="roundRect">
            <a:avLst>
              <a:gd name="adj" fmla="val 2244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33" name="Image 0" descr="Everyday signs gri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600"/>
            <a:ext cx="5669280" cy="3983415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772229" y="2243243"/>
            <a:ext cx="730788" cy="272323"/>
          </a:xfrm>
          <a:prstGeom prst="roundRect">
            <a:avLst>
              <a:gd name="adj" fmla="val 2014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7512162" y="2379404"/>
            <a:ext cx="534558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Text 33"/>
          <p:cNvSpPr/>
          <p:nvPr/>
        </p:nvSpPr>
        <p:spPr>
          <a:xfrm>
            <a:off x="8065008" y="222395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787030" y="2860672"/>
            <a:ext cx="719450" cy="718465"/>
          </a:xfrm>
          <a:prstGeom prst="roundRect">
            <a:avLst>
              <a:gd name="adj" fmla="val 7636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8515624" y="2773026"/>
            <a:ext cx="404782" cy="233811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8915400" y="253067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0213482" y="3693206"/>
            <a:ext cx="668426" cy="272323"/>
          </a:xfrm>
          <a:prstGeom prst="roundRect">
            <a:avLst>
              <a:gd name="adj" fmla="val 2014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>
            <a:off x="10891053" y="3829367"/>
            <a:ext cx="472196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2" name="Text 39"/>
          <p:cNvSpPr/>
          <p:nvPr/>
        </p:nvSpPr>
        <p:spPr>
          <a:xfrm>
            <a:off x="11381537" y="367391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0" y="5669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</a:t>
            </a:r>
            <a:r>
              <a:rPr lang="en-US" sz="1400" dirty="0">
                <a:solidFill>
                  <a:schemeClr val="bg2"/>
                </a:solidFill>
              </a:rPr>
              <a:t>Everyday signs tab   </a:t>
            </a:r>
            <a:r>
              <a:rPr lang="en-US" sz="1400" b="1" dirty="0">
                <a:solidFill>
                  <a:schemeClr val="accent1"/>
                </a:solidFill>
              </a:rPr>
              <a:t>2 </a:t>
            </a:r>
            <a:r>
              <a:rPr lang="en-US" sz="1400" dirty="0">
                <a:solidFill>
                  <a:schemeClr val="bg2"/>
                </a:solidFill>
              </a:rPr>
              <a:t>Picture   </a:t>
            </a:r>
            <a:r>
              <a:rPr lang="en-US" sz="1400" b="1" dirty="0">
                <a:solidFill>
                  <a:schemeClr val="accent1"/>
                </a:solidFill>
              </a:rPr>
              <a:t>3 </a:t>
            </a:r>
            <a:r>
              <a:rPr lang="en-US" sz="1400" dirty="0">
                <a:solidFill>
                  <a:schemeClr val="bg2"/>
                </a:solidFill>
              </a:rPr>
              <a:t>Written steps, with the one- or two-hand note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A9AA982-2716-2D19-D56A-06824E7C0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LEARN  ·  EVERYDAY SIGNS POP-UP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Tap a sign to see how it is made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6675120" cy="4529483"/>
          </a:xfrm>
          <a:prstGeom prst="roundRect">
            <a:avLst>
              <a:gd name="adj" fmla="val 2019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Yes sign pop-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6583680" cy="44380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98300" y="2064203"/>
            <a:ext cx="2166762" cy="2167908"/>
          </a:xfrm>
          <a:prstGeom prst="roundRect">
            <a:avLst>
              <a:gd name="adj" fmla="val 2532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 flipV="1">
            <a:off x="2481682" y="4241255"/>
            <a:ext cx="0" cy="685905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2326234" y="494544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10417" y="2374866"/>
            <a:ext cx="2884383" cy="561337"/>
          </a:xfrm>
          <a:prstGeom prst="roundRect">
            <a:avLst>
              <a:gd name="adj" fmla="val 9774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 flipH="1">
            <a:off x="5060703" y="1768510"/>
            <a:ext cx="16681" cy="59721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926787" y="143939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10417" y="2934059"/>
            <a:ext cx="1784909" cy="206293"/>
          </a:xfrm>
          <a:prstGeom prst="roundRect">
            <a:avLst>
              <a:gd name="adj" fmla="val 26595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 flipH="1">
            <a:off x="5404470" y="3017049"/>
            <a:ext cx="820777" cy="9606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243523" y="285956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03833" y="3187028"/>
            <a:ext cx="1653235" cy="406005"/>
          </a:xfrm>
          <a:prstGeom prst="roundRect">
            <a:avLst>
              <a:gd name="adj" fmla="val 13513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 flipV="1">
            <a:off x="4425525" y="3602177"/>
            <a:ext cx="2902" cy="304241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268419" y="392469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249753" y="3187028"/>
            <a:ext cx="685434" cy="406005"/>
          </a:xfrm>
          <a:prstGeom prst="roundRect">
            <a:avLst>
              <a:gd name="adj" fmla="val 13513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 flipH="1" flipV="1">
            <a:off x="5944332" y="3471039"/>
            <a:ext cx="548680" cy="126323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506870" y="348089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72400" y="1371600"/>
            <a:ext cx="3886200" cy="910742"/>
          </a:xfrm>
          <a:prstGeom prst="roundRect">
            <a:avLst>
              <a:gd name="adj" fmla="val 1204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891272" y="14904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39328" y="1463040"/>
            <a:ext cx="3200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Picture with arrows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Arrows show which way the hand moves.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772400" y="2355494"/>
            <a:ext cx="3886200" cy="910742"/>
          </a:xfrm>
          <a:prstGeom prst="roundRect">
            <a:avLst>
              <a:gd name="adj" fmla="val 1204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7891272" y="247436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339328" y="2446934"/>
            <a:ext cx="3200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Written steps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Follow the instructions, written in plain language.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772400" y="3339389"/>
            <a:ext cx="3886200" cy="910742"/>
          </a:xfrm>
          <a:prstGeom prst="roundRect">
            <a:avLst>
              <a:gd name="adj" fmla="val 1204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7891272" y="345826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339328" y="3430829"/>
            <a:ext cx="3200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 or two hands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See whether the sign uses one hand or both, and where to place them.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772400" y="4323283"/>
            <a:ext cx="3886200" cy="910742"/>
          </a:xfrm>
          <a:prstGeom prst="roundRect">
            <a:avLst>
              <a:gd name="adj" fmla="val 1204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7891272" y="444215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339328" y="4414723"/>
            <a:ext cx="3200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Practise with the camera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Opens Talk &gt; Basic signs so you can try it with the camera.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772400" y="5307178"/>
            <a:ext cx="3886200" cy="910742"/>
          </a:xfrm>
          <a:prstGeom prst="roundRect">
            <a:avLst>
              <a:gd name="adj" fmla="val 1204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891272" y="542605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339328" y="5398618"/>
            <a:ext cx="3200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Close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Return to the sign grid.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3404C16-8145-A4F9-4BFC-B447A3C44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PATH 2  ·  TALK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Talk using sign language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88920" y="1371600"/>
            <a:ext cx="6675120" cy="3168444"/>
          </a:xfrm>
          <a:prstGeom prst="roundRect">
            <a:avLst>
              <a:gd name="adj" fmla="val 288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Talk menu with four mod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417320"/>
            <a:ext cx="6583680" cy="30770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1168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2121408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Every mode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has Start and Stop buttons, plus a voice mute option.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738360" y="201168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2952" y="2121408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Choose a mode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Click a card to open it.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24758" y="2414617"/>
            <a:ext cx="1468892" cy="1476266"/>
          </a:xfrm>
          <a:prstGeom prst="roundRect">
            <a:avLst>
              <a:gd name="adj" fmla="val 3735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3570204" y="3900027"/>
            <a:ext cx="118365" cy="23864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337560" y="413887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99503" y="2414617"/>
            <a:ext cx="1468892" cy="1476266"/>
          </a:xfrm>
          <a:prstGeom prst="roundRect">
            <a:avLst>
              <a:gd name="adj" fmla="val 3735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5533949" y="3900027"/>
            <a:ext cx="0" cy="220556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378501" y="413887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80831" y="2414617"/>
            <a:ext cx="1468892" cy="1476266"/>
          </a:xfrm>
          <a:prstGeom prst="roundRect">
            <a:avLst>
              <a:gd name="adj" fmla="val 3735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7015277" y="3900027"/>
            <a:ext cx="0" cy="220556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6859829" y="413887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62159" y="2414617"/>
            <a:ext cx="1468892" cy="1476266"/>
          </a:xfrm>
          <a:prstGeom prst="roundRect">
            <a:avLst>
              <a:gd name="adj" fmla="val 3735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8496605" y="3900027"/>
            <a:ext cx="0" cy="220556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8341157" y="413887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21024" y="3950042"/>
            <a:ext cx="1324051" cy="196232"/>
          </a:xfrm>
          <a:prstGeom prst="roundRect">
            <a:avLst>
              <a:gd name="adj" fmla="val 27959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4954219" y="4048159"/>
            <a:ext cx="47183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444338" y="389271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681728"/>
            <a:ext cx="2081174" cy="1508760"/>
          </a:xfrm>
          <a:prstGeom prst="roundRect">
            <a:avLst>
              <a:gd name="adj" fmla="val 727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77316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24128" y="4773168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Fingerspelling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5157216"/>
            <a:ext cx="18251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Form ASL letters with your hand to build words.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794406" y="4681728"/>
            <a:ext cx="2081174" cy="1508760"/>
          </a:xfrm>
          <a:prstGeom prst="roundRect">
            <a:avLst>
              <a:gd name="adj" fmla="val 727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85846" y="477316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3269894" y="4773168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Basic signs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2931566" y="5157216"/>
            <a:ext cx="18251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Try everyday signs like Yes, Please, Thank you and Help.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040173" y="4681728"/>
            <a:ext cx="2081174" cy="1508760"/>
          </a:xfrm>
          <a:prstGeom prst="roundRect">
            <a:avLst>
              <a:gd name="adj" fmla="val 727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31613" y="477316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515661" y="4773168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Draw a letter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177333" y="5157216"/>
            <a:ext cx="18251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Draw letters on the board or use your finger to draw them in the air.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285939" y="4681728"/>
            <a:ext cx="2081174" cy="1508760"/>
          </a:xfrm>
          <a:prstGeom prst="roundRect">
            <a:avLst>
              <a:gd name="adj" fmla="val 727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77379" y="477316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761427" y="4773168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Draw in the air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7423099" y="5157216"/>
            <a:ext cx="18251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Use hand movements to draw directly over the camera view.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9531706" y="4681728"/>
            <a:ext cx="2081174" cy="1508760"/>
          </a:xfrm>
          <a:prstGeom prst="roundRect">
            <a:avLst>
              <a:gd name="adj" fmla="val 727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23146" y="477316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0007194" y="4773168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My own gestures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9668866" y="5157216"/>
            <a:ext cx="18251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Create custom gestures and assign a word or phrase to each one.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078950C-B433-97AB-BBAA-810428C67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MODE 1  ·  FINGERSPELLING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Turn hand signs into written words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6564723" cy="4206240"/>
          </a:xfrm>
          <a:prstGeom prst="roundRect">
            <a:avLst>
              <a:gd name="adj" fmla="val 2174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Fingerspelling with live came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6473283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54211" y="4207154"/>
            <a:ext cx="1950404" cy="287122"/>
          </a:xfrm>
          <a:prstGeom prst="roundRect">
            <a:avLst>
              <a:gd name="adj" fmla="val 19108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 flipV="1">
            <a:off x="740218" y="4421413"/>
            <a:ext cx="904849" cy="64989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11480" y="43434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621845" y="3952037"/>
            <a:ext cx="2533000" cy="217170"/>
          </a:xfrm>
          <a:prstGeom prst="roundRect">
            <a:avLst>
              <a:gd name="adj" fmla="val 25263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40150" y="3894984"/>
            <a:ext cx="872551" cy="6727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11480" y="37261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537936" y="4231843"/>
            <a:ext cx="506862" cy="237744"/>
          </a:xfrm>
          <a:prstGeom prst="roundRect">
            <a:avLst>
              <a:gd name="adj" fmla="val 2307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 flipV="1">
            <a:off x="3785927" y="4478731"/>
            <a:ext cx="2294" cy="93321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626209" y="459028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169204" y="2939796"/>
            <a:ext cx="785213" cy="258318"/>
          </a:xfrm>
          <a:prstGeom prst="roundRect">
            <a:avLst>
              <a:gd name="adj" fmla="val 21239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 flipH="1" flipV="1">
            <a:off x="5963561" y="3165500"/>
            <a:ext cx="756346" cy="181757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733385" y="323240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337020" y="4927244"/>
            <a:ext cx="5504236" cy="274777"/>
          </a:xfrm>
          <a:prstGeom prst="roundRect">
            <a:avLst>
              <a:gd name="adj" fmla="val 1996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 flipV="1">
            <a:off x="740203" y="5211166"/>
            <a:ext cx="1342058" cy="97991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11480" y="516636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26680" y="1328503"/>
            <a:ext cx="3931920" cy="771754"/>
          </a:xfrm>
          <a:prstGeom prst="roundRect">
            <a:avLst>
              <a:gd name="adj" fmla="val 1421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845552" y="144737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293608" y="1419943"/>
            <a:ext cx="324612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Start, Stop, Voice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Camera stays off until Start. Stop turns it off; Voice mutes speech.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726680" y="2156155"/>
            <a:ext cx="3931920" cy="771754"/>
          </a:xfrm>
          <a:prstGeom prst="roundRect">
            <a:avLst>
              <a:gd name="adj" fmla="val 1421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7845552" y="2275027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293608" y="2247595"/>
            <a:ext cx="324612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Hold the letter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Keep it steady until the progress bar fills.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756287" y="2991917"/>
            <a:ext cx="3931920" cy="771754"/>
          </a:xfrm>
          <a:prstGeom prst="roundRect">
            <a:avLst>
              <a:gd name="adj" fmla="val 1421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7875159" y="311078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323215" y="3083357"/>
            <a:ext cx="324612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Choose hold 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Slow 1.25 s, Normal 0.85 s or Fast 0.55 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726680" y="3818982"/>
            <a:ext cx="3931920" cy="771754"/>
          </a:xfrm>
          <a:prstGeom prst="roundRect">
            <a:avLst>
              <a:gd name="adj" fmla="val 1421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7845552" y="393785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293608" y="3910422"/>
            <a:ext cx="324612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Match indicator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“Camera sees A” appears when the camera matches your hand to the selected letter.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726680" y="4687214"/>
            <a:ext cx="3931920" cy="908914"/>
          </a:xfrm>
          <a:prstGeom prst="roundRect">
            <a:avLst>
              <a:gd name="adj" fmla="val 14218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845552" y="480608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293608" y="4778654"/>
            <a:ext cx="324612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Open hand = space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Spread your fingers to add a space without touching the screen. The app reads the completed word aloud.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48640" y="5669280"/>
            <a:ext cx="11109960" cy="457200"/>
          </a:xfrm>
          <a:prstGeom prst="roundRect">
            <a:avLst>
              <a:gd name="adj" fmla="val 24000"/>
            </a:avLst>
          </a:prstGeom>
          <a:solidFill>
            <a:schemeClr val="accent4">
              <a:alpha val="55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Tips:  J and Z are moving letters, so draw them in the air  ·  G and H: hand sideways  ·  P and Q: fingers pointing down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9C14F8D-0320-32C5-910B-AAC6C1F27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MODE 1  ·  FINGERSPELLING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Letter guide and customising recognition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4023360" cy="2945186"/>
          </a:xfrm>
          <a:prstGeom prst="roundRect">
            <a:avLst>
              <a:gd name="adj" fmla="val 3105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Letter guide pa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3931920" cy="28537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1325880"/>
            <a:ext cx="5943600" cy="2934358"/>
          </a:xfrm>
          <a:prstGeom prst="roundRect">
            <a:avLst>
              <a:gd name="adj" fmla="val 311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1" descr="Teach the camera my let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371600"/>
            <a:ext cx="5852160" cy="284291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16788" y="1999947"/>
            <a:ext cx="1488643" cy="655316"/>
          </a:xfrm>
          <a:prstGeom prst="roundRect">
            <a:avLst>
              <a:gd name="adj" fmla="val 8372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 flipH="1">
            <a:off x="3815952" y="1871258"/>
            <a:ext cx="19466" cy="11954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3707892" y="154433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028584" y="2644893"/>
            <a:ext cx="1555486" cy="1243188"/>
          </a:xfrm>
          <a:prstGeom prst="roundRect">
            <a:avLst>
              <a:gd name="adj" fmla="val 4413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 flipH="1">
            <a:off x="4593214" y="3231814"/>
            <a:ext cx="353770" cy="1075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4965192" y="3071087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365382" y="4014692"/>
            <a:ext cx="914583" cy="215839"/>
          </a:xfrm>
          <a:prstGeom prst="roundRect">
            <a:avLst>
              <a:gd name="adj" fmla="val 25419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820404" y="3885400"/>
            <a:ext cx="1150" cy="12014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663294" y="355622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632155" y="2932744"/>
            <a:ext cx="1114836" cy="274999"/>
          </a:xfrm>
          <a:prstGeom prst="roundRect">
            <a:avLst>
              <a:gd name="adj" fmla="val 19951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9030614" y="25096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9715975" y="2932744"/>
            <a:ext cx="441838" cy="274999"/>
          </a:xfrm>
          <a:prstGeom prst="roundRect">
            <a:avLst>
              <a:gd name="adj" fmla="val 19951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 flipH="1">
            <a:off x="10067597" y="2794824"/>
            <a:ext cx="114777" cy="128775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10142525" y="25096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48640" y="4572000"/>
            <a:ext cx="2081174" cy="1572768"/>
          </a:xfrm>
          <a:prstGeom prst="roundRect">
            <a:avLst>
              <a:gd name="adj" fmla="val 6977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66344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Big picture + steps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85800" y="5047488"/>
            <a:ext cx="18251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Tap a tile to see how to make the letter, with a camera tip.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2794406" y="4572000"/>
            <a:ext cx="2081174" cy="1572768"/>
          </a:xfrm>
          <a:prstGeom prst="roundRect">
            <a:avLst>
              <a:gd name="adj" fmla="val 6977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2885846" y="46634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3269894" y="466344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Tiles A–Z + Space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2931566" y="5047488"/>
            <a:ext cx="18251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Select a tile; the match indicator checks your hand against it.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040173" y="4572000"/>
            <a:ext cx="2081174" cy="1572768"/>
          </a:xfrm>
          <a:prstGeom prst="roundRect">
            <a:avLst>
              <a:gd name="adj" fmla="val 6977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7"/>
          <p:cNvSpPr/>
          <p:nvPr/>
        </p:nvSpPr>
        <p:spPr>
          <a:xfrm>
            <a:off x="5131613" y="46634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5515661" y="466344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Teach my letter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5177333" y="5047488"/>
            <a:ext cx="18251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Choose a letter the camera often misreads, make your version and hold it for 2 seconds to save it.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7285939" y="4572000"/>
            <a:ext cx="2081174" cy="1572768"/>
          </a:xfrm>
          <a:prstGeom prst="roundRect">
            <a:avLst>
              <a:gd name="adj" fmla="val 6977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1"/>
          <p:cNvSpPr/>
          <p:nvPr/>
        </p:nvSpPr>
        <p:spPr>
          <a:xfrm>
            <a:off x="7377379" y="46634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7761427" y="466344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Reset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7423099" y="5047488"/>
            <a:ext cx="18251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Clears your taught version of that letter.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9531706" y="4572000"/>
            <a:ext cx="2081174" cy="1572768"/>
          </a:xfrm>
          <a:prstGeom prst="roundRect">
            <a:avLst>
              <a:gd name="adj" fmla="val 6977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5"/>
          <p:cNvSpPr/>
          <p:nvPr/>
        </p:nvSpPr>
        <p:spPr>
          <a:xfrm>
            <a:off x="9623146" y="46634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10007194" y="466344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Space + Repeat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9668866" y="5047488"/>
            <a:ext cx="18251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Use Repeat letter to enter double letters, such as LL.</a:t>
            </a:r>
            <a:endParaRPr lang="en-US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0E17CCB-A28F-5419-FFAE-4B40D7ECE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1325880"/>
            <a:ext cx="5486400" cy="2851388"/>
          </a:xfrm>
          <a:prstGeom prst="roundRect">
            <a:avLst>
              <a:gd name="adj" fmla="val 3207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614D7CB-0BA7-45CD-668A-646666502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26" y="1356044"/>
            <a:ext cx="5429674" cy="2797105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MODE 2  ·  BASIC SIGNS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Recognising everyday signs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263640" y="1325880"/>
            <a:ext cx="5486400" cy="2820154"/>
          </a:xfrm>
          <a:prstGeom prst="roundRect">
            <a:avLst>
              <a:gd name="adj" fmla="val 3242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1" descr="Basic signs, Hurt, two han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394960" cy="27287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350569" y="3101391"/>
            <a:ext cx="1853489" cy="211149"/>
          </a:xfrm>
          <a:prstGeom prst="roundRect">
            <a:avLst>
              <a:gd name="adj" fmla="val 25984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 flipH="1">
            <a:off x="3213202" y="3144798"/>
            <a:ext cx="643872" cy="2533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3875227" y="298251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447678" y="1473021"/>
            <a:ext cx="477774" cy="349147"/>
          </a:xfrm>
          <a:prstGeom prst="roundRect">
            <a:avLst>
              <a:gd name="adj" fmla="val 15714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 flipH="1" flipV="1">
            <a:off x="1934596" y="1647595"/>
            <a:ext cx="95125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2904134" y="1492147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350569" y="3004793"/>
            <a:ext cx="2231136" cy="142151"/>
          </a:xfrm>
          <a:prstGeom prst="roundRect">
            <a:avLst>
              <a:gd name="adj" fmla="val 38596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 flipH="1">
            <a:off x="3141615" y="2827262"/>
            <a:ext cx="1417882" cy="168387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4576572" y="265132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731356" y="3572569"/>
            <a:ext cx="2015338" cy="346023"/>
          </a:xfrm>
          <a:prstGeom prst="roundRect">
            <a:avLst>
              <a:gd name="adj" fmla="val 15856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 flipH="1">
            <a:off x="8447302" y="3379547"/>
            <a:ext cx="714975" cy="18387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9175090" y="318082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9229222" y="1498747"/>
            <a:ext cx="1907438" cy="782618"/>
          </a:xfrm>
          <a:prstGeom prst="roundRect">
            <a:avLst>
              <a:gd name="adj" fmla="val 7010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 flipH="1" flipV="1">
            <a:off x="10607448" y="2290508"/>
            <a:ext cx="808645" cy="762825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11387023" y="301710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4526280"/>
            <a:ext cx="2081174" cy="1664208"/>
          </a:xfrm>
          <a:prstGeom prst="roundRect">
            <a:avLst>
              <a:gd name="adj" fmla="val 659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40080" y="46908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024128" y="4690872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Keep your face and hands in view.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5104424"/>
            <a:ext cx="182514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Make sure your face and hands are visible. The status line shows how many hands are in view.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2794406" y="4526280"/>
            <a:ext cx="2081174" cy="1664208"/>
          </a:xfrm>
          <a:prstGeom prst="roundRect">
            <a:avLst>
              <a:gd name="adj" fmla="val 659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2885846" y="46908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269894" y="4690872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Word appears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2931566" y="5074920"/>
            <a:ext cx="182514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app checks hand shape, movement and position relative to your face.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040173" y="4526280"/>
            <a:ext cx="2081174" cy="1664208"/>
          </a:xfrm>
          <a:prstGeom prst="roundRect">
            <a:avLst>
              <a:gd name="adj" fmla="val 659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131613" y="46908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5515661" y="4690872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Typed + spoken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5177333" y="5074920"/>
            <a:ext cx="182514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recognised word appears in the message bar and is spoken aloud.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7285939" y="4526280"/>
            <a:ext cx="2081174" cy="1664208"/>
          </a:xfrm>
          <a:prstGeom prst="roundRect">
            <a:avLst>
              <a:gd name="adj" fmla="val 659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7343852" y="468887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7727900" y="4688879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Brief pause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7389572" y="5072927"/>
            <a:ext cx="182514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brief pause helps prevent the same sign from being added twice.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9531706" y="4526280"/>
            <a:ext cx="2081174" cy="1664208"/>
          </a:xfrm>
          <a:prstGeom prst="roundRect">
            <a:avLst>
              <a:gd name="adj" fmla="val 6593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9589618" y="46908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9973666" y="4690872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Sign guide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9635338" y="5074920"/>
            <a:ext cx="182514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Browse the signs and check the instructions for using one or both hands.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10</a:t>
            </a:fld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AAE9ECA-3CF2-6DD3-6E48-D032B074F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MODE 2  ·  BASIC SIGNS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Teach the camera your version of a sign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6766560" cy="4237041"/>
          </a:xfrm>
          <a:prstGeom prst="roundRect">
            <a:avLst>
              <a:gd name="adj" fmla="val 2158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Teach the camera my version of this sig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6675120" cy="41456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13306" y="1546568"/>
            <a:ext cx="1655155" cy="1192464"/>
          </a:xfrm>
          <a:prstGeom prst="roundRect">
            <a:avLst>
              <a:gd name="adj" fmla="val 4601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 flipV="1">
            <a:off x="3712143" y="2193746"/>
            <a:ext cx="692019" cy="42135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383280" y="20909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96618" y="3718863"/>
            <a:ext cx="1828709" cy="317742"/>
          </a:xfrm>
          <a:prstGeom prst="roundRect">
            <a:avLst>
              <a:gd name="adj" fmla="val 1726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708452" y="3527241"/>
            <a:ext cx="834322" cy="18247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383280" y="33346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96618" y="4282665"/>
            <a:ext cx="2542946" cy="384072"/>
          </a:xfrm>
          <a:prstGeom prst="roundRect">
            <a:avLst>
              <a:gd name="adj" fmla="val 14285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 flipV="1">
            <a:off x="3709105" y="4675881"/>
            <a:ext cx="950841" cy="189745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383280" y="4744177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96618" y="4017346"/>
            <a:ext cx="854141" cy="317742"/>
          </a:xfrm>
          <a:prstGeom prst="roundRect">
            <a:avLst>
              <a:gd name="adj" fmla="val 1726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 flipH="1">
            <a:off x="5130184" y="3573634"/>
            <a:ext cx="792743" cy="43456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919826" y="33346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09560" y="1371600"/>
            <a:ext cx="3749040" cy="1042416"/>
          </a:xfrm>
          <a:prstGeom prst="roundRect">
            <a:avLst>
              <a:gd name="adj" fmla="val 1052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8028432" y="14904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476488" y="1463040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Select a sign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Tap a tile in the sign guide. The chosen sign is outlined.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909560" y="2487168"/>
            <a:ext cx="3749040" cy="1042416"/>
          </a:xfrm>
          <a:prstGeom prst="roundRect">
            <a:avLst>
              <a:gd name="adj" fmla="val 1052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8028432" y="26060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476488" y="2578608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Teach my version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Press the button and use the 3-second countdown to get ready.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09560" y="3602736"/>
            <a:ext cx="3749040" cy="1042416"/>
          </a:xfrm>
          <a:prstGeom prst="roundRect">
            <a:avLst>
              <a:gd name="adj" fmla="val 1052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8028432" y="372160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476488" y="3694176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Record 2–3 times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Perform the sign two or three times so the app can save examples of your version.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909560" y="4718304"/>
            <a:ext cx="3749040" cy="1042416"/>
          </a:xfrm>
          <a:prstGeom prst="roundRect">
            <a:avLst>
              <a:gd name="adj" fmla="val 1052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8028432" y="483717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476488" y="4809744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Reset this sign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Removes your custom version of this sign only.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5852160"/>
            <a:ext cx="11109960" cy="365760"/>
          </a:xfrm>
          <a:prstGeom prst="roundRect">
            <a:avLst>
              <a:gd name="adj" fmla="val 30000"/>
            </a:avLst>
          </a:prstGeom>
          <a:solidFill>
            <a:schemeClr val="tx1">
              <a:alpha val="0"/>
            </a:schemeClr>
          </a:solidFill>
          <a:ln w="9525">
            <a:solidFill>
              <a:schemeClr val="bg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 txBox="1"/>
          <p:nvPr/>
        </p:nvSpPr>
        <p:spPr>
          <a:xfrm>
            <a:off x="548640" y="58521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Your custom sign examples are saved on this device for your next visit.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11</a:t>
            </a:fld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B6D11A5-9B04-5CCA-6ADD-FE00A01CB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MODE 3  ·  DRAW A LETTER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Draw a letter.</a:t>
            </a:r>
            <a:r>
              <a:rPr lang="en-US" i="1" dirty="0">
                <a:solidFill>
                  <a:schemeClr val="bg1"/>
                </a:solidFill>
              </a:rPr>
              <a:t> The app recognises it and reads it aloud.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389120" cy="2753740"/>
          </a:xfrm>
          <a:prstGeom prst="roundRect">
            <a:avLst>
              <a:gd name="adj" fmla="val 3321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Draw a letter 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4297680" cy="2662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1325880"/>
            <a:ext cx="6537960" cy="2493617"/>
          </a:xfrm>
          <a:prstGeom prst="roundRect">
            <a:avLst>
              <a:gd name="adj" fmla="val 3667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1" descr="Draw a letter contro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371600"/>
            <a:ext cx="6446520" cy="240217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752539" y="2426567"/>
            <a:ext cx="2050085" cy="1556053"/>
          </a:xfrm>
          <a:prstGeom prst="roundRect">
            <a:avLst>
              <a:gd name="adj" fmla="val 3526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1173770" y="2258559"/>
            <a:ext cx="569625" cy="336003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868680" y="201484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643927" y="2259862"/>
            <a:ext cx="2406792" cy="298957"/>
          </a:xfrm>
          <a:prstGeom prst="roundRect">
            <a:avLst>
              <a:gd name="adj" fmla="val 18352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 flipH="1">
            <a:off x="10059863" y="2404930"/>
            <a:ext cx="734629" cy="166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10812780" y="224908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84185" y="2531308"/>
            <a:ext cx="3238393" cy="301359"/>
          </a:xfrm>
          <a:prstGeom prst="roundRect">
            <a:avLst>
              <a:gd name="adj" fmla="val 18206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 flipH="1" flipV="1">
            <a:off x="7927694" y="2841811"/>
            <a:ext cx="422548" cy="10817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8363102" y="28376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907445" y="2531308"/>
            <a:ext cx="1233526" cy="301359"/>
          </a:xfrm>
          <a:prstGeom prst="roundRect">
            <a:avLst>
              <a:gd name="adj" fmla="val 18206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 flipH="1">
            <a:off x="10150114" y="2680931"/>
            <a:ext cx="644378" cy="536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10812780" y="252533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684185" y="2809961"/>
            <a:ext cx="1297991" cy="277337"/>
          </a:xfrm>
          <a:prstGeom prst="roundRect">
            <a:avLst>
              <a:gd name="adj" fmla="val 19782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 flipH="1" flipV="1">
            <a:off x="6991320" y="2977164"/>
            <a:ext cx="193284" cy="838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7202729" y="2837621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40080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024128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Draw on the board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Draw with your finger, mouse or pen, or start the camera to draw in the air. Pause briefly and the letter is entered.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2794406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2885846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269894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Buttons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2931566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Add letter now enters it immediately; Clear drawing removes the drawing, and Undo stroke removes the last stroke.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040173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131613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5515661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Smart toggles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5177333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Draw multiple letters at once, review alternatives before typing, or clear the app’s learned corrections.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7285939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7377379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7761427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Air pen delay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7423099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Choose Quick, Normal or Careful to set how soon the air pen starts.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9531706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9623146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10007194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Pause to type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9668866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Choose how long to pause before the app enters a letter.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12</a:t>
            </a:fld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0402989-BA3E-A4E1-3E7E-497478F90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MODE 4  ·  DRAW IN THE AIR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Draw directly in the camera view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106910" cy="2834640"/>
          </a:xfrm>
          <a:prstGeom prst="roundRect">
            <a:avLst>
              <a:gd name="adj" fmla="val 322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Draw in the air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401547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92040" y="1325880"/>
            <a:ext cx="6400800" cy="2532166"/>
          </a:xfrm>
          <a:prstGeom prst="roundRect">
            <a:avLst>
              <a:gd name="adj" fmla="val 3611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1" descr="Drawing too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6309360" cy="244072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6975" y="1856232"/>
            <a:ext cx="1860036" cy="265176"/>
          </a:xfrm>
          <a:prstGeom prst="roundRect">
            <a:avLst>
              <a:gd name="adj" fmla="val 20690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 flipH="1" flipV="1">
            <a:off x="2194710" y="2130552"/>
            <a:ext cx="1247598" cy="444599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3450514" y="247802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582595" y="2467521"/>
            <a:ext cx="3637940" cy="312343"/>
          </a:xfrm>
          <a:prstGeom prst="roundRect">
            <a:avLst>
              <a:gd name="adj" fmla="val 17565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 flipH="1">
            <a:off x="9229679" y="2623692"/>
            <a:ext cx="1212769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10460736" y="246824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51998" y="2765289"/>
            <a:ext cx="3025932" cy="292817"/>
          </a:xfrm>
          <a:prstGeom prst="roundRect">
            <a:avLst>
              <a:gd name="adj" fmla="val 1873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 flipH="1" flipV="1">
            <a:off x="8687074" y="2940656"/>
            <a:ext cx="998282" cy="1899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703613" y="280750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387005" y="3043532"/>
            <a:ext cx="3354019" cy="309902"/>
          </a:xfrm>
          <a:prstGeom prst="roundRect">
            <a:avLst>
              <a:gd name="adj" fmla="val 17704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 flipH="1" flipV="1">
            <a:off x="8750168" y="3214124"/>
            <a:ext cx="1692288" cy="1569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10460736" y="307598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387005" y="3324216"/>
            <a:ext cx="4880884" cy="182985"/>
          </a:xfrm>
          <a:prstGeom prst="roundRect">
            <a:avLst>
              <a:gd name="adj" fmla="val 29983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 flipH="1" flipV="1">
            <a:off x="9854523" y="3516344"/>
            <a:ext cx="872060" cy="4329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10744657" y="341280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40080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024128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Point and draw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Raise your index finger and curl the others, then move your fingertip to draw.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2794406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2885846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269894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7 tools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2931566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Pen, Marker, Rainbow, Line, Box, Circle and Eraser.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040173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131613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5515661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Colour and size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5177333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Choose from eight colours and four pen widths: Thin, Medium, Thick or Extra thick.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7285939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7377379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7761427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Actions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7423099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Undo or redo a stroke, clear the drawing, save the picture, or hide the camera view with Plain board.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9531706" y="4434840"/>
            <a:ext cx="2081174" cy="1737360"/>
          </a:xfrm>
          <a:prstGeom prst="roundRect">
            <a:avLst>
              <a:gd name="adj" fmla="val 631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9623146" y="45262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10007194" y="4526280"/>
            <a:ext cx="15325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Lift your hand to stop drawing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9668866" y="4910328"/>
            <a:ext cx="18251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Open your hand, make a fist or lower your hand to stop drawing. Hold an open hand still for 1.5 seconds to clear the board.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13</a:t>
            </a:fld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3A0C3FC-A2D6-FD45-7EF1-ECAEC6390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OPTIONAL  ·  MY OWN GESTURES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Make gestures your own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6492240" cy="4612426"/>
          </a:xfrm>
          <a:prstGeom prst="roundRect">
            <a:avLst>
              <a:gd name="adj" fmla="val 1982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My own gestures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400800" cy="45209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89527" y="2777219"/>
            <a:ext cx="2409444" cy="683485"/>
          </a:xfrm>
          <a:prstGeom prst="roundRect">
            <a:avLst>
              <a:gd name="adj" fmla="val 802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 flipH="1">
            <a:off x="6408115" y="3116943"/>
            <a:ext cx="235001" cy="327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661404" y="296125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89527" y="3441804"/>
            <a:ext cx="2377440" cy="299201"/>
          </a:xfrm>
          <a:prstGeom prst="roundRect">
            <a:avLst>
              <a:gd name="adj" fmla="val 1833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 flipH="1">
            <a:off x="6376111" y="3591404"/>
            <a:ext cx="26700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661404" y="343595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89527" y="3848692"/>
            <a:ext cx="745236" cy="299201"/>
          </a:xfrm>
          <a:prstGeom prst="roundRect">
            <a:avLst>
              <a:gd name="adj" fmla="val 1833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 flipH="1">
            <a:off x="4743907" y="3998293"/>
            <a:ext cx="58704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349240" y="384284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89527" y="4174203"/>
            <a:ext cx="2409444" cy="335369"/>
          </a:xfrm>
          <a:prstGeom prst="roundRect">
            <a:avLst>
              <a:gd name="adj" fmla="val 16359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 flipH="1">
            <a:off x="6408115" y="4341888"/>
            <a:ext cx="235001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661404" y="41864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109167" y="4920166"/>
            <a:ext cx="1033272" cy="299201"/>
          </a:xfrm>
          <a:prstGeom prst="roundRect">
            <a:avLst>
              <a:gd name="adj" fmla="val 1833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 flipH="1">
            <a:off x="2151583" y="5069767"/>
            <a:ext cx="619049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2788920" y="491431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406640" y="1371600"/>
            <a:ext cx="4251960" cy="855878"/>
          </a:xfrm>
          <a:prstGeom prst="roundRect">
            <a:avLst>
              <a:gd name="adj" fmla="val 12821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525512" y="14904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973568" y="1463040"/>
            <a:ext cx="35661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Choose a gesture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Name it and enter what it should say, e.g. “Wave hello” → “Hello, nice to meet you”.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406640" y="2300630"/>
            <a:ext cx="4251960" cy="855878"/>
          </a:xfrm>
          <a:prstGeom prst="roundRect">
            <a:avLst>
              <a:gd name="adj" fmla="val 12821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7525512" y="241950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973568" y="2392070"/>
            <a:ext cx="35661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Record example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Record at least two examples; the counter shows how many you have added.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406640" y="3229661"/>
            <a:ext cx="4251960" cy="855878"/>
          </a:xfrm>
          <a:prstGeom prst="roundRect">
            <a:avLst>
              <a:gd name="adj" fmla="val 12821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7525512" y="334853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973568" y="3321101"/>
            <a:ext cx="35661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Save gesture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Saves the gesture to your list, whether it is a still hand shape or a movement.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406640" y="4158691"/>
            <a:ext cx="4251960" cy="855878"/>
          </a:xfrm>
          <a:prstGeom prst="roundRect">
            <a:avLst>
              <a:gd name="adj" fmla="val 12821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7525512" y="4277563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973568" y="4250131"/>
            <a:ext cx="35661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Saved gestures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View and manage your saved gestures here.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406640" y="5087722"/>
            <a:ext cx="4251960" cy="855878"/>
          </a:xfrm>
          <a:prstGeom prst="roundRect">
            <a:avLst>
              <a:gd name="adj" fmla="val 12821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525512" y="520659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973568" y="5179162"/>
            <a:ext cx="35661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Shortcut mode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Turn this on to recognise your saved gestures and speak their assigned phrases.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14</a:t>
            </a:fld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A5F5FC5-71A4-F95A-F6A1-F83ECD147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SHARED  ·  CAMERA AND GESTURE PAGES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The message bar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1394137"/>
          </a:xfrm>
          <a:prstGeom prst="roundRect">
            <a:avLst>
              <a:gd name="adj" fmla="val 6559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Messag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6858000" cy="13026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83080"/>
            <a:ext cx="3749040" cy="1240971"/>
          </a:xfrm>
          <a:prstGeom prst="roundRect">
            <a:avLst>
              <a:gd name="adj" fmla="val 7368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1" descr="Toast notific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828800"/>
            <a:ext cx="3657600" cy="114953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5246" y="1947245"/>
            <a:ext cx="6656832" cy="578598"/>
          </a:xfrm>
          <a:prstGeom prst="roundRect">
            <a:avLst>
              <a:gd name="adj" fmla="val 9482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 flipH="1">
            <a:off x="4223335" y="1495067"/>
            <a:ext cx="103428" cy="44303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4210812" y="117043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5246" y="2555604"/>
            <a:ext cx="1479042" cy="572085"/>
          </a:xfrm>
          <a:prstGeom prst="roundRect">
            <a:avLst>
              <a:gd name="adj" fmla="val 9590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 flipV="1">
            <a:off x="1556734" y="3136833"/>
            <a:ext cx="4202" cy="32386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1399032" y="347896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340864" y="2555604"/>
            <a:ext cx="1239012" cy="572085"/>
          </a:xfrm>
          <a:prstGeom prst="roundRect">
            <a:avLst>
              <a:gd name="adj" fmla="val 9590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 flipV="1">
            <a:off x="2960370" y="3136833"/>
            <a:ext cx="0" cy="32384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2804922" y="347896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616452" y="2555604"/>
            <a:ext cx="1739646" cy="572085"/>
          </a:xfrm>
          <a:prstGeom prst="roundRect">
            <a:avLst>
              <a:gd name="adj" fmla="val 9590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 flipH="1" flipV="1">
            <a:off x="4492659" y="3136833"/>
            <a:ext cx="7005" cy="32388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4347972" y="347896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385816" y="2555604"/>
            <a:ext cx="1746504" cy="572085"/>
          </a:xfrm>
          <a:prstGeom prst="roundRect">
            <a:avLst>
              <a:gd name="adj" fmla="val 9590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 flipH="1" flipV="1">
            <a:off x="6269282" y="3136833"/>
            <a:ext cx="11210" cy="32395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6131052" y="347896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11018520" y="1826710"/>
            <a:ext cx="530352" cy="337544"/>
          </a:xfrm>
          <a:prstGeom prst="roundRect">
            <a:avLst>
              <a:gd name="adj" fmla="val 16254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10077163" y="1402511"/>
            <a:ext cx="932213" cy="45815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9765792" y="117043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3566160" cy="1069848"/>
          </a:xfrm>
          <a:prstGeom prst="roundRect">
            <a:avLst>
              <a:gd name="adj" fmla="val 1025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67512" y="40507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1115568" y="40507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Message box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731520" y="4348835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Letters and words from your signs and drawings appear here, ready to edit or read aloud.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320540" y="3931920"/>
            <a:ext cx="3566160" cy="1069848"/>
          </a:xfrm>
          <a:prstGeom prst="roundRect">
            <a:avLst>
              <a:gd name="adj" fmla="val 1025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7"/>
          <p:cNvSpPr/>
          <p:nvPr/>
        </p:nvSpPr>
        <p:spPr>
          <a:xfrm>
            <a:off x="4439412" y="40507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4887468" y="40507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Speak all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4503420" y="44622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Reads the full message aloud.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092440" y="3931920"/>
            <a:ext cx="3566160" cy="1069848"/>
          </a:xfrm>
          <a:prstGeom prst="roundRect">
            <a:avLst>
              <a:gd name="adj" fmla="val 1025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1"/>
          <p:cNvSpPr/>
          <p:nvPr/>
        </p:nvSpPr>
        <p:spPr>
          <a:xfrm>
            <a:off x="8211312" y="40507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8659368" y="40507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Space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8275320" y="44622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Adds a space between words.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548640" y="5093208"/>
            <a:ext cx="3566160" cy="1069848"/>
          </a:xfrm>
          <a:prstGeom prst="roundRect">
            <a:avLst>
              <a:gd name="adj" fmla="val 1025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5"/>
          <p:cNvSpPr/>
          <p:nvPr/>
        </p:nvSpPr>
        <p:spPr>
          <a:xfrm>
            <a:off x="667512" y="52120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1115568" y="52120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Repeat letter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73152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Repeats the last letter, for double letters such as LL.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4320540" y="5093208"/>
            <a:ext cx="3566160" cy="1069848"/>
          </a:xfrm>
          <a:prstGeom prst="roundRect">
            <a:avLst>
              <a:gd name="adj" fmla="val 1025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4439412" y="52120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4887468" y="52120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Delete ⌫ and Clear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450342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Delete removes the last item; Clear removes everything in the message box.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092440" y="5093208"/>
            <a:ext cx="3566160" cy="1069848"/>
          </a:xfrm>
          <a:prstGeom prst="roundRect">
            <a:avLst>
              <a:gd name="adj" fmla="val 1025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8211312" y="521208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48" name="Text 44"/>
          <p:cNvSpPr txBox="1"/>
          <p:nvPr/>
        </p:nvSpPr>
        <p:spPr>
          <a:xfrm>
            <a:off x="8659368" y="52120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Toast + live region</a:t>
            </a:r>
            <a:endParaRPr lang="en-US" sz="1600" dirty="0"/>
          </a:p>
        </p:txBody>
      </p:sp>
      <p:sp>
        <p:nvSpPr>
          <p:cNvPr id="49" name="Text 45"/>
          <p:cNvSpPr txBox="1"/>
          <p:nvPr/>
        </p:nvSpPr>
        <p:spPr>
          <a:xfrm>
            <a:off x="827532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Each action triggers a brief on-screen notice and an announcement for screen readers.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15</a:t>
            </a:fld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25372F7-8A64-5DDF-0731-3ED1D19F1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How it works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11680" cy="1143000"/>
          </a:xfrm>
          <a:prstGeom prst="roundRect">
            <a:avLst>
              <a:gd name="adj" fmla="val 96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447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Camera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640×480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87752" y="1938528"/>
            <a:ext cx="19659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11780" y="1371600"/>
            <a:ext cx="2011680" cy="1143000"/>
          </a:xfrm>
          <a:prstGeom prst="roundRect">
            <a:avLst>
              <a:gd name="adj" fmla="val 96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03220" y="14447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Landmark models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hand + face, GPU with CPU fallback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50892" y="1938528"/>
            <a:ext cx="19659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1371600"/>
            <a:ext cx="2011680" cy="1143000"/>
          </a:xfrm>
          <a:prstGeom prst="roundRect">
            <a:avLst>
              <a:gd name="adj" fmla="val 96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14447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Normalised hand frame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Same reference for every Hand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14032" y="1938528"/>
            <a:ext cx="19659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38060" y="1371600"/>
            <a:ext cx="2011680" cy="1143000"/>
          </a:xfrm>
          <a:prstGeom prst="roundRect">
            <a:avLst>
              <a:gd name="adj" fmla="val 96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29500" y="14447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Recognisers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Letters, Signs, Gestures, Drawings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77172" y="1938528"/>
            <a:ext cx="19659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01200" y="1371600"/>
            <a:ext cx="2011680" cy="1143000"/>
          </a:xfrm>
          <a:prstGeom prst="roundRect">
            <a:avLst>
              <a:gd name="adj" fmla="val 9600"/>
            </a:avLst>
          </a:prstGeom>
          <a:solidFill>
            <a:schemeClr val="accent4">
              <a:alpha val="8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0" y="14447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Typed + spoken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message bar and speech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9260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0" descr="cub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06324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7160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Normalised hand frame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35478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Hand positions are normalised using the wrist as a reference and palm length for scale, making comparisons less dependent on hand size or orientation.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320540" y="274320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5132" y="29260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1" descr="bra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292" y="306324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14350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Letter classifier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4503420" y="35478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ASL letters are matched against hand-shape templates, with extra rules for commonly confused letters. Recent frames are compared to make recognition more stable.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8092440" y="274320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257032" y="29260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2" descr="rou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3063240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1540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Moving letters and signs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8275320" y="35478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J and Z are detected from fingertip movement. Basic signs are recognised through hand shape, movement and position relative to the face.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48640" y="45262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13232" y="47091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3" descr="hand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846320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37160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Personal gestures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731520" y="53309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Custom gestures are matched by comparing their shapes and movement patterns using dynamic time warping.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4320540" y="45262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485132" y="47091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mage 4" descr="pe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292" y="4846320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14350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Drawn letters</a:t>
            </a:r>
            <a:endParaRPr lang="en-US" sz="1600" dirty="0"/>
          </a:p>
        </p:txBody>
      </p:sp>
      <p:sp>
        <p:nvSpPr>
          <p:cNvPr id="42" name="Text 35"/>
          <p:cNvSpPr txBox="1"/>
          <p:nvPr/>
        </p:nvSpPr>
        <p:spPr>
          <a:xfrm>
            <a:off x="4503420" y="53309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Drawn letters are recognised by comparing the points in a drawing, even when strokes are made in a different order.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8092440" y="45262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257032" y="47091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mage 5" descr="speec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4846320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91540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Speech</a:t>
            </a:r>
            <a:endParaRPr lang="en-US" sz="1600" dirty="0"/>
          </a:p>
        </p:txBody>
      </p:sp>
      <p:sp>
        <p:nvSpPr>
          <p:cNvPr id="47" name="Text 39"/>
          <p:cNvSpPr txBox="1"/>
          <p:nvPr/>
        </p:nvSpPr>
        <p:spPr>
          <a:xfrm>
            <a:off x="8275320" y="53309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Recognised letters and words appear in the message bar and can be read aloud using the browser’s built-in text-to-speech.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16</a:t>
            </a:fld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CD4C64B-547A-1F79-2348-608ADA95B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USABILITY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Accessibility and usability features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5636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textsiz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190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86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Adjust the text size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Choose A, A+ or A++ using the button at the top of each page.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67735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9759" y="15636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volu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207" y="171907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0615" y="2286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Voice on / off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50615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Remembered between visits.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683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78854" y="15636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tou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302" y="17190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9710" y="2286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Designed for easier navigation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69710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Large touch targets, visible focus indicators, screen-reader labels and live announcements help make the interface easier to use.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05926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97950" y="15636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mo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3398" y="17190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8806" y="2286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Less unnecessary motion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188806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Respects your device’s reduced-motion setting.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0664" y="403250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vibra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18795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1520" y="4754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Vibration feedback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5120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phone vibrates when a letter is typed.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3367735" y="384048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59759" y="403250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hand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5207" y="418795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50615" y="4754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Use gestures instead of typing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3550615" y="5120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Spaces, holds and gestures let you interact without touching the screen.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186830" y="384048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78854" y="403250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6" descr="lapto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302" y="4187952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69710" y="4754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Works across screen sizes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6369710" y="5120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Responsive layout with a mirrored camera view for more natural movement.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9005926" y="384048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197950" y="403250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mage 7" descr="sav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3398" y="4187952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188806" y="4754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Your settings stay saved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9188806" y="5120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Settings and personal teaching data are saved on your device.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17</a:t>
            </a:fld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EC2E2FC-3D7E-E103-A80E-7301D5E9DB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Privacy and safety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943600" cy="1097280"/>
          </a:xfrm>
          <a:prstGeom prst="roundRect">
            <a:avLst>
              <a:gd name="adj" fmla="val 100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5636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camo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190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Camera control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901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camera stays off until you press Start. Press Stop when you’re finished.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5943600" cy="1097280"/>
          </a:xfrm>
          <a:prstGeom prst="roundRect">
            <a:avLst>
              <a:gd name="adj" fmla="val 100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0664" y="275234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ch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9077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743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On-device processing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090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Hand tracking runs locally on your device.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943600" cy="1097280"/>
          </a:xfrm>
          <a:prstGeom prst="roundRect">
            <a:avLst>
              <a:gd name="adj" fmla="val 100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0664" y="394106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d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0965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9319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Local storage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279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Custom teaching data is saved in your browser.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937760"/>
            <a:ext cx="5943600" cy="1097280"/>
          </a:xfrm>
          <a:prstGeom prst="roundRect">
            <a:avLst>
              <a:gd name="adj" fmla="val 10000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0664" y="512978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war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28523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1206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Clear error messages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4681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app explains when camera access is blocked or a model fails to load.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8458200" y="1417320"/>
            <a:ext cx="1645920" cy="1645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shiel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1828800"/>
            <a:ext cx="822960" cy="8229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766560" y="3474720"/>
            <a:ext cx="5029200" cy="721954"/>
          </a:xfrm>
          <a:prstGeom prst="roundRect">
            <a:avLst>
              <a:gd name="adj" fmla="val 1266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7" name="Image 5" descr="Footer text on the home p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3520440"/>
            <a:ext cx="4937760" cy="63051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220102" y="3641492"/>
            <a:ext cx="4023360" cy="274916"/>
          </a:xfrm>
          <a:prstGeom prst="roundRect">
            <a:avLst>
              <a:gd name="adj" fmla="val 19957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 flipH="1" flipV="1">
            <a:off x="9240966" y="3925553"/>
            <a:ext cx="29333" cy="46826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ext 22"/>
          <p:cNvSpPr/>
          <p:nvPr/>
        </p:nvSpPr>
        <p:spPr>
          <a:xfrm>
            <a:off x="9125712" y="441176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681228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2"/>
                </a:solidFill>
              </a:rPr>
              <a:t>Your camera, your control.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6995160" y="51663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camera starts only when you choose to use it, and hand tracking runs on your device.</a:t>
            </a:r>
            <a:endParaRPr lang="en-US" sz="2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18</a:t>
            </a:fld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65EF345-9DF0-09F7-5FBD-08149B6E2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chemeClr val="bg1"/>
                </a:solidFill>
              </a:rPr>
              <a:t>Who it’s for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5636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gr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190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86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People learning ASL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Explore signs at your own pace and practise them with the camera.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054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12564" y="15636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dea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012" y="171907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3420" y="2286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Deaf and hard-of-hearing users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0342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Use recognised signs to produce text and speech when communicating with non-signers.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244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tx1">
              <a:alpha val="7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84464" y="1563624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tea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7190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286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Teachers, families and children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Explore everyday signs together through visual examples and interactive practice.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1109960" cy="2194560"/>
          </a:xfrm>
          <a:prstGeom prst="roundRect">
            <a:avLst>
              <a:gd name="adj" fmla="val 5000"/>
            </a:avLst>
          </a:prstGeom>
          <a:solidFill>
            <a:schemeClr val="accent4">
              <a:alpha val="5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572000"/>
            <a:ext cx="1005840" cy="10058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camer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" y="48234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194560" y="4343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special equipment</a:t>
            </a:r>
            <a:endParaRPr lang="en-US" sz="3200" dirty="0"/>
          </a:p>
        </p:txBody>
      </p:sp>
      <p:sp>
        <p:nvSpPr>
          <p:cNvPr id="23" name="Text 17"/>
          <p:cNvSpPr txBox="1"/>
          <p:nvPr/>
        </p:nvSpPr>
        <p:spPr>
          <a:xfrm>
            <a:off x="219456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Get started with a compatible laptop or phone, a camera and a modern browser.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949440" y="4160520"/>
            <a:ext cx="3526387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5" name="Image 4" descr="Basic signs in u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4206240"/>
            <a:ext cx="3434947" cy="1737360"/>
          </a:xfrm>
          <a:prstGeom prst="rect">
            <a:avLst/>
          </a:prstGeom>
        </p:spPr>
      </p:pic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19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618765D-F37D-CEAA-032D-66B5E861F5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2"/>
                </a:solidFill>
              </a:rPr>
              <a:t>BYTE4ME  ·  MINDS IN ENGINEERING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640080" y="1280160"/>
            <a:ext cx="6766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600" i="1" dirty="0">
                <a:solidFill>
                  <a:schemeClr val="bg1"/>
                </a:solidFill>
              </a:rPr>
              <a:t>Communication should have fewer barriers.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4526280"/>
            <a:ext cx="3749040" cy="594360"/>
          </a:xfrm>
          <a:prstGeom prst="roundRect">
            <a:avLst>
              <a:gd name="adj" fmla="val 21538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Visit our Repository and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Explore The Project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Works in a modern browser on laptop or phone.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Scan to try it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2"/>
                </a:solidFill>
                <a:hlinkClick r:id="rId3"/>
              </a:rPr>
              <a:t>https://github.com/byteme-code/Sign-Speech/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27648"/>
            <a:ext cx="603504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300">
                <a:solidFill>
                  <a:srgbClr val="FCF3E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D44DF6-54D9-3ECC-6256-E1FBF32ACFC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8A2C4E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halk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2668" y="1175780"/>
            <a:ext cx="3289252" cy="3289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6C97A5-CD8A-349F-15C8-353EA66C7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9429" y="36576"/>
            <a:ext cx="1808494" cy="776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yte4ME Sign">
  <a:themeElements>
    <a:clrScheme name="byte4ME Sign">
      <a:dk1>
        <a:srgbClr val="0B0409"/>
      </a:dk1>
      <a:lt1>
        <a:srgbClr val="FCF3EC"/>
      </a:lt1>
      <a:dk2>
        <a:srgbClr val="2A0B19"/>
      </a:dk2>
      <a:lt2>
        <a:srgbClr val="D9C3C0"/>
      </a:lt2>
      <a:accent1>
        <a:srgbClr val="F0924F"/>
      </a:accent1>
      <a:accent2>
        <a:srgbClr val="FFB38A"/>
      </a:accent2>
      <a:accent3>
        <a:srgbClr val="D43F6E"/>
      </a:accent3>
      <a:accent4>
        <a:srgbClr val="8A2C4E"/>
      </a:accent4>
      <a:accent5>
        <a:srgbClr val="6B4A52"/>
      </a:accent5>
      <a:accent6>
        <a:srgbClr val="7CE0A4"/>
      </a:accent6>
      <a:hlink>
        <a:srgbClr val="FFB38A"/>
      </a:hlink>
      <a:folHlink>
        <a:srgbClr val="D9C3C0"/>
      </a:folHlink>
    </a:clrScheme>
    <a:fontScheme name="byte4ME Sig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3659</Words>
  <Application>Microsoft Office PowerPoint</Application>
  <PresentationFormat>Widescreen</PresentationFormat>
  <Paragraphs>450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byte4ME Sign</vt:lpstr>
      <vt:lpstr>Universal Accessibility Platform</vt:lpstr>
      <vt:lpstr>What it is</vt:lpstr>
      <vt:lpstr>App map</vt:lpstr>
      <vt:lpstr>Learn sign language</vt:lpstr>
      <vt:lpstr>The 20 everyday signs</vt:lpstr>
      <vt:lpstr>Tap a sign to see how it is made</vt:lpstr>
      <vt:lpstr>Talk using sign language</vt:lpstr>
      <vt:lpstr>Turn hand signs into written words</vt:lpstr>
      <vt:lpstr>Letter guide and customising recognition</vt:lpstr>
      <vt:lpstr>Recognising everyday signs</vt:lpstr>
      <vt:lpstr>Teach the camera your version of a sign</vt:lpstr>
      <vt:lpstr>Draw a letter. The app recognises it and reads it aloud.</vt:lpstr>
      <vt:lpstr>Draw directly in the camera view</vt:lpstr>
      <vt:lpstr>Make gestures your own</vt:lpstr>
      <vt:lpstr>The message bar</vt:lpstr>
      <vt:lpstr>How it works</vt:lpstr>
      <vt:lpstr>Accessibility and usability features</vt:lpstr>
      <vt:lpstr>Privacy and safety</vt:lpstr>
      <vt:lpstr>Who it’s for</vt:lpstr>
      <vt:lpstr>Communication should have fewer barriers.</vt:lpstr>
    </vt:vector>
  </TitlesOfParts>
  <Company>byte4ME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Accessibility Platform</dc:title>
  <dc:subject>PptxGenJS Presentation</dc:subject>
  <dc:creator>byte4ME</dc:creator>
  <cp:lastModifiedBy>dhruwazofficial@gmail.com</cp:lastModifiedBy>
  <cp:revision>5</cp:revision>
  <dcterms:created xsi:type="dcterms:W3CDTF">2026-10-19T18:36:20Z</dcterms:created>
  <dcterms:modified xsi:type="dcterms:W3CDTF">2026-10-19T21:02:55Z</dcterms:modified>
</cp:coreProperties>
</file>